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3" r:id="rId2"/>
    <p:sldId id="264" r:id="rId3"/>
    <p:sldId id="263" r:id="rId4"/>
    <p:sldId id="262" r:id="rId5"/>
    <p:sldId id="260" r:id="rId6"/>
    <p:sldId id="265" r:id="rId7"/>
    <p:sldId id="267" r:id="rId8"/>
    <p:sldId id="266" r:id="rId9"/>
    <p:sldId id="268" r:id="rId10"/>
    <p:sldId id="270" r:id="rId11"/>
    <p:sldId id="269" r:id="rId12"/>
    <p:sldId id="272" r:id="rId13"/>
    <p:sldId id="258" r:id="rId14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EB2CB1-6CC0-52DE-E79B-219F242B7F79}" name="Francisco Llanes" initials="F" userId="S::fllanes@unan.edu.ni::5aee38f5-860e-4bfb-9e87-62f4c259df1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4473"/>
    <a:srgbClr val="FAB718"/>
    <a:srgbClr val="0D98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154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E096D6C2-88C4-41EE-9ECB-BAD832CF12AB}" type="datetimeFigureOut">
              <a:rPr lang="es-NI" smtClean="0"/>
              <a:t>16/5/2026</a:t>
            </a:fld>
            <a:endParaRPr lang="es-NI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s-NI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95008" y="4444861"/>
            <a:ext cx="5560060" cy="3636705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B8644883-4F96-4370-91F7-EC4CCCC9A88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372684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82" y="1789"/>
            <a:ext cx="12188817" cy="685621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244282" y="1840523"/>
            <a:ext cx="5231026" cy="2149351"/>
          </a:xfrm>
        </p:spPr>
        <p:txBody>
          <a:bodyPr anchor="b">
            <a:noAutofit/>
          </a:bodyPr>
          <a:lstStyle>
            <a:lvl1pPr algn="l">
              <a:defRPr sz="4400" b="1">
                <a:solidFill>
                  <a:srgbClr val="0D98D7"/>
                </a:solidFill>
                <a:latin typeface="Tw Cen MT" panose="020B0602020104020603" pitchFamily="34" charset="77"/>
                <a:cs typeface="Courier New" panose="02070309020205020404" pitchFamily="49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244281" y="4242486"/>
            <a:ext cx="5231026" cy="1181450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17447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743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1" y="1856"/>
            <a:ext cx="12185521" cy="6854355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 b="1">
                <a:solidFill>
                  <a:srgbClr val="0D98D7"/>
                </a:solidFill>
                <a:latin typeface="Tw Cen MT" panose="020B0602020104020603" pitchFamily="34" charset="77"/>
                <a:cs typeface="Courier New" panose="02070309020205020404" pitchFamily="49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174473"/>
                </a:solidFill>
                <a:latin typeface="Calibri cuerpo"/>
              </a:defRPr>
            </a:lvl1pPr>
            <a:lvl2pPr>
              <a:defRPr>
                <a:solidFill>
                  <a:srgbClr val="174473"/>
                </a:solidFill>
                <a:latin typeface="Calibri cuerpo"/>
              </a:defRPr>
            </a:lvl2pPr>
            <a:lvl3pPr>
              <a:defRPr>
                <a:solidFill>
                  <a:srgbClr val="174473"/>
                </a:solidFill>
                <a:latin typeface="Calibri cuerpo"/>
              </a:defRPr>
            </a:lvl3pPr>
            <a:lvl4pPr>
              <a:defRPr>
                <a:solidFill>
                  <a:srgbClr val="174473"/>
                </a:solidFill>
                <a:latin typeface="Calibri cuerpo"/>
              </a:defRPr>
            </a:lvl4pPr>
            <a:lvl5pPr>
              <a:defRPr>
                <a:solidFill>
                  <a:srgbClr val="174473"/>
                </a:solidFill>
                <a:latin typeface="Calibri cuerpo"/>
              </a:defRPr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32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6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592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3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666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42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00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52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59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40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54116-522A-43FA-A07B-AF425C3CADE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97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DD941-D4D2-4DCC-A156-DF2476335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E957EFA-7EFB-6F9D-72CD-8B8FA9C9E3A8}"/>
              </a:ext>
            </a:extLst>
          </p:cNvPr>
          <p:cNvSpPr txBox="1"/>
          <p:nvPr/>
        </p:nvSpPr>
        <p:spPr>
          <a:xfrm>
            <a:off x="-10453849" y="4413356"/>
            <a:ext cx="4133850" cy="231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NI" sz="1400" b="1" dirty="0">
                <a:solidFill>
                  <a:srgbClr val="000000"/>
                </a:solidFill>
                <a:effectLst/>
                <a:latin typeface="Amasis MT Pro" panose="02040504050005020304" pitchFamily="18" charset="0"/>
                <a:ea typeface="Times New Roman" panose="02020603050405020304" pitchFamily="18" charset="0"/>
              </a:rPr>
              <a:t>INTEGRANTES</a:t>
            </a:r>
            <a:endParaRPr lang="es-MX" sz="1400" dirty="0">
              <a:effectLst/>
              <a:latin typeface="Amasis MT Pro" panose="02040504050005020304" pitchFamily="18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●"/>
            </a:pPr>
            <a:r>
              <a:rPr lang="es-NI" sz="1400" dirty="0">
                <a:solidFill>
                  <a:srgbClr val="000000"/>
                </a:solidFill>
                <a:effectLst/>
                <a:latin typeface="Amasis MT Pro" panose="02040504050005020304" pitchFamily="18" charset="0"/>
                <a:ea typeface="Times New Roman" panose="02020603050405020304" pitchFamily="18" charset="0"/>
                <a:cs typeface="Noto Sans Symbols"/>
              </a:rPr>
              <a:t>Jhon Kenneth Fonseca Pineda</a:t>
            </a:r>
            <a:endParaRPr lang="es-MX" sz="1400" dirty="0">
              <a:effectLst/>
              <a:latin typeface="Amasis MT Pro" panose="02040504050005020304" pitchFamily="18" charset="0"/>
              <a:ea typeface="Noto Sans Symbols"/>
              <a:cs typeface="Noto Sans Symbols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●"/>
            </a:pPr>
            <a:r>
              <a:rPr lang="es-NI" sz="1400" dirty="0">
                <a:solidFill>
                  <a:srgbClr val="000000"/>
                </a:solidFill>
                <a:effectLst/>
                <a:latin typeface="Amasis MT Pro" panose="02040504050005020304" pitchFamily="18" charset="0"/>
                <a:ea typeface="Times New Roman" panose="02020603050405020304" pitchFamily="18" charset="0"/>
                <a:cs typeface="Noto Sans Symbols"/>
              </a:rPr>
              <a:t>Norma Paola Ojeda</a:t>
            </a:r>
            <a:endParaRPr lang="es-MX" sz="1400" dirty="0">
              <a:effectLst/>
              <a:latin typeface="Amasis MT Pro" panose="02040504050005020304" pitchFamily="18" charset="0"/>
              <a:ea typeface="Noto Sans Symbols"/>
              <a:cs typeface="Noto Sans Symbols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●"/>
            </a:pPr>
            <a:r>
              <a:rPr lang="es-NI" sz="1400" dirty="0">
                <a:solidFill>
                  <a:srgbClr val="000000"/>
                </a:solidFill>
                <a:effectLst/>
                <a:latin typeface="Amasis MT Pro" panose="02040504050005020304" pitchFamily="18" charset="0"/>
                <a:ea typeface="Times New Roman" panose="02020603050405020304" pitchFamily="18" charset="0"/>
                <a:cs typeface="Noto Sans Symbols"/>
              </a:rPr>
              <a:t>Eliezer Antonio Suarez Gómez</a:t>
            </a:r>
            <a:endParaRPr lang="es-MX" sz="1400" dirty="0">
              <a:effectLst/>
              <a:latin typeface="Amasis MT Pro" panose="02040504050005020304" pitchFamily="18" charset="0"/>
              <a:ea typeface="Noto Sans Symbols"/>
              <a:cs typeface="Noto Sans Symbols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●"/>
            </a:pPr>
            <a:r>
              <a:rPr lang="es-NI" sz="1400" dirty="0">
                <a:solidFill>
                  <a:srgbClr val="000000"/>
                </a:solidFill>
                <a:effectLst/>
                <a:latin typeface="Amasis MT Pro" panose="02040504050005020304" pitchFamily="18" charset="0"/>
                <a:ea typeface="Times New Roman" panose="02020603050405020304" pitchFamily="18" charset="0"/>
                <a:cs typeface="Noto Sans Symbols"/>
              </a:rPr>
              <a:t>Pedro Maximiliano Ortega Mejia.</a:t>
            </a:r>
            <a:endParaRPr lang="es-MX" sz="1400" dirty="0">
              <a:effectLst/>
              <a:latin typeface="Amasis MT Pro" panose="02040504050005020304" pitchFamily="18" charset="0"/>
              <a:ea typeface="Noto Sans Symbols"/>
              <a:cs typeface="Noto Sans Symbols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●"/>
            </a:pPr>
            <a:r>
              <a:rPr lang="es-NI" sz="1400" dirty="0">
                <a:solidFill>
                  <a:srgbClr val="000000"/>
                </a:solidFill>
                <a:effectLst/>
                <a:latin typeface="Amasis MT Pro" panose="02040504050005020304" pitchFamily="18" charset="0"/>
                <a:ea typeface="Times New Roman" panose="02020603050405020304" pitchFamily="18" charset="0"/>
                <a:cs typeface="Noto Sans Symbols"/>
              </a:rPr>
              <a:t>Eliver Julieth Serrano Díaz</a:t>
            </a:r>
            <a:endParaRPr lang="es-MX" sz="1400" dirty="0">
              <a:effectLst/>
              <a:latin typeface="Amasis MT Pro" panose="02040504050005020304" pitchFamily="18" charset="0"/>
              <a:ea typeface="Noto Sans Symbols"/>
              <a:cs typeface="Noto Sans Symbols"/>
            </a:endParaRPr>
          </a:p>
          <a:p>
            <a:pPr>
              <a:lnSpc>
                <a:spcPct val="107000"/>
              </a:lnSpc>
              <a:spcAft>
                <a:spcPts val="1200"/>
              </a:spcAft>
              <a:buNone/>
            </a:pPr>
            <a:r>
              <a:rPr lang="es-NI" sz="1400" dirty="0">
                <a:effectLst/>
                <a:latin typeface="Amasis MT Pro" panose="02040504050005020304" pitchFamily="18" charset="0"/>
                <a:ea typeface="Times New Roman" panose="02020603050405020304" pitchFamily="18" charset="0"/>
              </a:rPr>
              <a:t> </a:t>
            </a:r>
            <a:endParaRPr lang="es-MX" sz="1400" dirty="0">
              <a:effectLst/>
              <a:latin typeface="Amasis MT Pro" panose="02040504050005020304" pitchFamily="18" charset="0"/>
              <a:ea typeface="Calibri" panose="020F05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2D52B6-6C0E-7F67-8792-FCCBF1AC9E04}"/>
              </a:ext>
            </a:extLst>
          </p:cNvPr>
          <p:cNvSpPr txBox="1"/>
          <p:nvPr/>
        </p:nvSpPr>
        <p:spPr>
          <a:xfrm>
            <a:off x="-6837941" y="393108"/>
            <a:ext cx="6375817" cy="122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CENTRO UNIVERSITARIO REGIONAL DE CHONTALES</a:t>
            </a:r>
            <a:endParaRPr lang="es-MX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“Cornelio Silvio Argüello”</a:t>
            </a:r>
            <a:endParaRPr lang="es-MX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UNAN Managua / CUR-Chontales</a:t>
            </a:r>
            <a:endParaRPr lang="es-MX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A9022F9-F257-8759-0588-F2BDD1B3F8BD}"/>
              </a:ext>
            </a:extLst>
          </p:cNvPr>
          <p:cNvSpPr txBox="1"/>
          <p:nvPr/>
        </p:nvSpPr>
        <p:spPr>
          <a:xfrm>
            <a:off x="-6767987" y="1764417"/>
            <a:ext cx="6235908" cy="353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6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“2026: Una educación al servicio del pueblo, ¡Viva Sandino!”</a:t>
            </a:r>
            <a:endParaRPr lang="es-MX" sz="16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4E32394-2B7E-060A-ADEC-0F3F021C09E7}"/>
              </a:ext>
            </a:extLst>
          </p:cNvPr>
          <p:cNvSpPr txBox="1"/>
          <p:nvPr/>
        </p:nvSpPr>
        <p:spPr>
          <a:xfrm>
            <a:off x="-7362596" y="2304440"/>
            <a:ext cx="6830517" cy="807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DEPARTAMENTO DE CIENCIAS TECNOLÓGICAS Y SALUD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INGENIERÍA EN SISTEMAS DE INFORMACIÓN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84A0E39-B711-0ACA-29AA-63243AD16444}"/>
              </a:ext>
            </a:extLst>
          </p:cNvPr>
          <p:cNvSpPr txBox="1"/>
          <p:nvPr/>
        </p:nvSpPr>
        <p:spPr>
          <a:xfrm>
            <a:off x="-5020383" y="3253615"/>
            <a:ext cx="3234128" cy="816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II SEMESTRE, II AÑO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Grupo: 8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F97EF8D-A33A-2489-3AB2-BA20510385DA}"/>
              </a:ext>
            </a:extLst>
          </p:cNvPr>
          <p:cNvSpPr txBox="1"/>
          <p:nvPr/>
        </p:nvSpPr>
        <p:spPr>
          <a:xfrm>
            <a:off x="-7020319" y="4105771"/>
            <a:ext cx="65581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NI" sz="1800" b="1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“Desarrollo de un sistema de escritorio para la biblioteca del centro Simón Bolívar.”</a:t>
            </a:r>
            <a:endParaRPr lang="es-MX" b="1" dirty="0">
              <a:latin typeface="Amasis MT Pro" panose="020405040500050203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D331B51-6650-8A8C-CE56-2BCECC0730AA}"/>
              </a:ext>
            </a:extLst>
          </p:cNvPr>
          <p:cNvSpPr txBox="1"/>
          <p:nvPr/>
        </p:nvSpPr>
        <p:spPr>
          <a:xfrm>
            <a:off x="-5228997" y="5568416"/>
            <a:ext cx="4766873" cy="807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Noviembre, 2026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¡Universidad del Pueblo y para el Pueblo!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3284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731DA-4DFC-5ADF-DF22-951839687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9E8B8A4F-4B2D-1124-6370-3F6DE3F61D4E}"/>
              </a:ext>
            </a:extLst>
          </p:cNvPr>
          <p:cNvSpPr txBox="1"/>
          <p:nvPr/>
        </p:nvSpPr>
        <p:spPr>
          <a:xfrm>
            <a:off x="2200275" y="4413356"/>
            <a:ext cx="4133850" cy="231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NI" sz="1400" b="1" dirty="0">
                <a:solidFill>
                  <a:srgbClr val="000000"/>
                </a:solidFill>
                <a:effectLst/>
                <a:latin typeface="Amasis MT Pro" panose="02040504050005020304" pitchFamily="18" charset="0"/>
                <a:ea typeface="Times New Roman" panose="02020603050405020304" pitchFamily="18" charset="0"/>
              </a:rPr>
              <a:t>INTEGRANTES</a:t>
            </a:r>
            <a:endParaRPr lang="es-MX" sz="1400" dirty="0">
              <a:effectLst/>
              <a:latin typeface="Amasis MT Pro" panose="02040504050005020304" pitchFamily="18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●"/>
            </a:pPr>
            <a:r>
              <a:rPr lang="es-NI" sz="1400" dirty="0">
                <a:solidFill>
                  <a:srgbClr val="000000"/>
                </a:solidFill>
                <a:effectLst/>
                <a:latin typeface="Amasis MT Pro" panose="02040504050005020304" pitchFamily="18" charset="0"/>
                <a:ea typeface="Times New Roman" panose="02020603050405020304" pitchFamily="18" charset="0"/>
                <a:cs typeface="Noto Sans Symbols"/>
              </a:rPr>
              <a:t>Jhon Kenneth Fonseca Pineda</a:t>
            </a:r>
            <a:endParaRPr lang="es-MX" sz="1400" dirty="0">
              <a:effectLst/>
              <a:latin typeface="Amasis MT Pro" panose="02040504050005020304" pitchFamily="18" charset="0"/>
              <a:ea typeface="Noto Sans Symbols"/>
              <a:cs typeface="Noto Sans Symbols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●"/>
            </a:pPr>
            <a:r>
              <a:rPr lang="es-NI" sz="1400" dirty="0">
                <a:solidFill>
                  <a:srgbClr val="000000"/>
                </a:solidFill>
                <a:effectLst/>
                <a:latin typeface="Amasis MT Pro" panose="02040504050005020304" pitchFamily="18" charset="0"/>
                <a:ea typeface="Times New Roman" panose="02020603050405020304" pitchFamily="18" charset="0"/>
                <a:cs typeface="Noto Sans Symbols"/>
              </a:rPr>
              <a:t>Norma Paola Ojeda</a:t>
            </a:r>
            <a:endParaRPr lang="es-MX" sz="1400" dirty="0">
              <a:effectLst/>
              <a:latin typeface="Amasis MT Pro" panose="02040504050005020304" pitchFamily="18" charset="0"/>
              <a:ea typeface="Noto Sans Symbols"/>
              <a:cs typeface="Noto Sans Symbols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●"/>
            </a:pPr>
            <a:r>
              <a:rPr lang="es-NI" sz="1400" dirty="0">
                <a:solidFill>
                  <a:srgbClr val="000000"/>
                </a:solidFill>
                <a:effectLst/>
                <a:latin typeface="Amasis MT Pro" panose="02040504050005020304" pitchFamily="18" charset="0"/>
                <a:ea typeface="Times New Roman" panose="02020603050405020304" pitchFamily="18" charset="0"/>
                <a:cs typeface="Noto Sans Symbols"/>
              </a:rPr>
              <a:t>Eliezer Antonio Suarez Gómez</a:t>
            </a:r>
            <a:endParaRPr lang="es-MX" sz="1400" dirty="0">
              <a:effectLst/>
              <a:latin typeface="Amasis MT Pro" panose="02040504050005020304" pitchFamily="18" charset="0"/>
              <a:ea typeface="Noto Sans Symbols"/>
              <a:cs typeface="Noto Sans Symbols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●"/>
            </a:pPr>
            <a:r>
              <a:rPr lang="es-NI" sz="1400" dirty="0">
                <a:solidFill>
                  <a:srgbClr val="000000"/>
                </a:solidFill>
                <a:effectLst/>
                <a:latin typeface="Amasis MT Pro" panose="02040504050005020304" pitchFamily="18" charset="0"/>
                <a:ea typeface="Times New Roman" panose="02020603050405020304" pitchFamily="18" charset="0"/>
                <a:cs typeface="Noto Sans Symbols"/>
              </a:rPr>
              <a:t>Pedro Maximiliano Ortega Mejia.</a:t>
            </a:r>
            <a:endParaRPr lang="es-MX" sz="1400" dirty="0">
              <a:effectLst/>
              <a:latin typeface="Amasis MT Pro" panose="02040504050005020304" pitchFamily="18" charset="0"/>
              <a:ea typeface="Noto Sans Symbols"/>
              <a:cs typeface="Noto Sans Symbols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●"/>
            </a:pPr>
            <a:r>
              <a:rPr lang="es-NI" sz="1400" dirty="0">
                <a:solidFill>
                  <a:srgbClr val="000000"/>
                </a:solidFill>
                <a:effectLst/>
                <a:latin typeface="Amasis MT Pro" panose="02040504050005020304" pitchFamily="18" charset="0"/>
                <a:ea typeface="Times New Roman" panose="02020603050405020304" pitchFamily="18" charset="0"/>
                <a:cs typeface="Noto Sans Symbols"/>
              </a:rPr>
              <a:t>Eliver Julieth Serrano Díaz</a:t>
            </a:r>
            <a:endParaRPr lang="es-MX" sz="1400" dirty="0">
              <a:effectLst/>
              <a:latin typeface="Amasis MT Pro" panose="02040504050005020304" pitchFamily="18" charset="0"/>
              <a:ea typeface="Noto Sans Symbols"/>
              <a:cs typeface="Noto Sans Symbols"/>
            </a:endParaRPr>
          </a:p>
          <a:p>
            <a:pPr>
              <a:lnSpc>
                <a:spcPct val="107000"/>
              </a:lnSpc>
              <a:spcAft>
                <a:spcPts val="1200"/>
              </a:spcAft>
              <a:buNone/>
            </a:pPr>
            <a:r>
              <a:rPr lang="es-NI" sz="1400" dirty="0">
                <a:effectLst/>
                <a:latin typeface="Amasis MT Pro" panose="02040504050005020304" pitchFamily="18" charset="0"/>
                <a:ea typeface="Times New Roman" panose="02020603050405020304" pitchFamily="18" charset="0"/>
              </a:rPr>
              <a:t> </a:t>
            </a:r>
            <a:endParaRPr lang="es-MX" sz="1400" dirty="0">
              <a:effectLst/>
              <a:latin typeface="Amasis MT Pro" panose="020405040500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50A2D71-393E-8358-644C-19C372AE0955}"/>
              </a:ext>
            </a:extLst>
          </p:cNvPr>
          <p:cNvSpPr txBox="1"/>
          <p:nvPr/>
        </p:nvSpPr>
        <p:spPr>
          <a:xfrm>
            <a:off x="5816183" y="393108"/>
            <a:ext cx="6375817" cy="1228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CENTRO UNIVERSITARIO REGIONAL DE CHONTALES</a:t>
            </a:r>
            <a:endParaRPr lang="es-MX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“Cornelio Silvio Argüello”</a:t>
            </a:r>
            <a:endParaRPr lang="es-MX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UNAN Managua / CUR-Chontales</a:t>
            </a:r>
            <a:endParaRPr lang="es-MX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7B12E36-795D-AD02-1FAC-7346EE5F9DCB}"/>
              </a:ext>
            </a:extLst>
          </p:cNvPr>
          <p:cNvSpPr txBox="1"/>
          <p:nvPr/>
        </p:nvSpPr>
        <p:spPr>
          <a:xfrm>
            <a:off x="5886137" y="1764417"/>
            <a:ext cx="6235908" cy="353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6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“2026: Una educación al servicio del pueblo, ¡Viva Sandino!”</a:t>
            </a:r>
            <a:endParaRPr lang="es-MX" sz="16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43EE9FB-7100-5D50-138F-8CDB3F0830CF}"/>
              </a:ext>
            </a:extLst>
          </p:cNvPr>
          <p:cNvSpPr txBox="1"/>
          <p:nvPr/>
        </p:nvSpPr>
        <p:spPr>
          <a:xfrm>
            <a:off x="5291528" y="2304440"/>
            <a:ext cx="6830517" cy="807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DEPARTAMENTO DE CIENCIAS TECNOLÓGICAS Y SALUD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INGENIERÍA EN SISTEMAS DE INFORMACIÓN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DCD0050-1F5C-A0BB-ABDC-C044825D01F2}"/>
              </a:ext>
            </a:extLst>
          </p:cNvPr>
          <p:cNvSpPr txBox="1"/>
          <p:nvPr/>
        </p:nvSpPr>
        <p:spPr>
          <a:xfrm>
            <a:off x="7633741" y="3253615"/>
            <a:ext cx="3234128" cy="816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II SEMESTRE, II AÑO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Grupo: 8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5331836-2405-8E60-5C81-12DDAB41E1A0}"/>
              </a:ext>
            </a:extLst>
          </p:cNvPr>
          <p:cNvSpPr txBox="1"/>
          <p:nvPr/>
        </p:nvSpPr>
        <p:spPr>
          <a:xfrm>
            <a:off x="5633805" y="4105771"/>
            <a:ext cx="65581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NI" sz="1800" b="1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“Desarrollo de un sistema de escritorio para la biblioteca del centro Simón Bolívar.”</a:t>
            </a:r>
            <a:endParaRPr lang="es-MX" b="1" dirty="0">
              <a:latin typeface="Amasis MT Pro" panose="020405040500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F7F8682-EF13-E792-5467-C2A26BAF986D}"/>
              </a:ext>
            </a:extLst>
          </p:cNvPr>
          <p:cNvSpPr txBox="1"/>
          <p:nvPr/>
        </p:nvSpPr>
        <p:spPr>
          <a:xfrm>
            <a:off x="7425127" y="5568416"/>
            <a:ext cx="4766873" cy="807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Noviembre, 2026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¡Universidad del Pueblo y para el Pueblo!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E3D71E-3FCE-FDE2-C03B-4D03A3265754}"/>
              </a:ext>
            </a:extLst>
          </p:cNvPr>
          <p:cNvSpPr txBox="1"/>
          <p:nvPr/>
        </p:nvSpPr>
        <p:spPr>
          <a:xfrm>
            <a:off x="-12392286" y="1458301"/>
            <a:ext cx="11211394" cy="464486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Objetivo General:</a:t>
            </a:r>
            <a:endParaRPr lang="es-MX" sz="20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Desarrollar un sistema de escritorio que automatice la organización de libros, el registro de usuarios y el control de préstamos y devoluciones de la biblioteca del Centro Simón Bolívar durante el año lectivo 2026.</a:t>
            </a:r>
            <a:endParaRPr lang="es-MX" sz="20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s-MX" sz="20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Objetivos Específicos:</a:t>
            </a:r>
            <a:endParaRPr lang="es-MX" sz="20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• Identificar las necesidades y deficiencias actuales en la gestión de la biblioteca.</a:t>
            </a:r>
            <a:endParaRPr lang="es-MX" sz="20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• Diseñar un sistema de escritorio seguro que centralice la información de libros, usuarios y préstamos.</a:t>
            </a:r>
            <a:endParaRPr lang="es-MX" sz="20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• Crear una interfaz que permita visualizar en tiempo real la disponibilidad de libros y la gestión de préstamos.</a:t>
            </a:r>
            <a:endParaRPr lang="es-MX" sz="20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56B70C3-07CD-1237-E09C-BFCED1BDD3B7}"/>
              </a:ext>
            </a:extLst>
          </p:cNvPr>
          <p:cNvSpPr txBox="1"/>
          <p:nvPr/>
        </p:nvSpPr>
        <p:spPr>
          <a:xfrm>
            <a:off x="-12392286" y="203518"/>
            <a:ext cx="11016521" cy="8853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Tema</a:t>
            </a:r>
            <a:endParaRPr lang="es-MX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Desarrollo de un sistema de escritorio para la biblioteca del Centro Escolar Simón Bolívar.</a:t>
            </a:r>
            <a:endParaRPr lang="es-MX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414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8A12A1C-64E3-3B84-DCEB-E7047B79CB03}"/>
              </a:ext>
            </a:extLst>
          </p:cNvPr>
          <p:cNvSpPr txBox="1"/>
          <p:nvPr/>
        </p:nvSpPr>
        <p:spPr>
          <a:xfrm>
            <a:off x="510914" y="1458301"/>
            <a:ext cx="11211394" cy="4644861"/>
          </a:xfrm>
          <a:prstGeom prst="rect">
            <a:avLst/>
          </a:prstGeom>
          <a:ln>
            <a:headEnd type="none" w="med" len="med"/>
            <a:tailEnd type="none" w="med" len="med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Objetivo General:</a:t>
            </a:r>
            <a:endParaRPr lang="es-MX" sz="20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Desarrollar un sistema de escritorio que automatice la organización de libros, el registro de usuarios y el control de préstamos y devoluciones de la biblioteca del Centro Simón Bolívar durante el año lectivo 2026.</a:t>
            </a:r>
            <a:endParaRPr lang="es-MX" sz="20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s-MX" sz="20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Objetivos Específicos:</a:t>
            </a:r>
            <a:endParaRPr lang="es-MX" sz="20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• Identificar las necesidades y deficiencias actuales en la gestión de la biblioteca.</a:t>
            </a:r>
            <a:endParaRPr lang="es-MX" sz="20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• Diseñar un sistema de escritorio seguro que centralice la información de libros, usuarios y préstamos.</a:t>
            </a:r>
            <a:endParaRPr lang="es-MX" sz="20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• Crear una interfaz que permita visualizar en tiempo real la disponibilidad de libros y la gestión de préstamos.</a:t>
            </a:r>
            <a:endParaRPr lang="es-MX" sz="20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6FBBFCB-2545-FCFF-B0A9-7D14F855BF5D}"/>
              </a:ext>
            </a:extLst>
          </p:cNvPr>
          <p:cNvSpPr txBox="1"/>
          <p:nvPr/>
        </p:nvSpPr>
        <p:spPr>
          <a:xfrm>
            <a:off x="510914" y="203518"/>
            <a:ext cx="11016521" cy="885371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Tema</a:t>
            </a:r>
            <a:endParaRPr lang="es-MX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Desarrollo de un sistema de escritorio para la biblioteca del Centro Escolar Simón Bolívar.</a:t>
            </a:r>
            <a:endParaRPr lang="es-MX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3D3AF8A-13B1-DEF8-615B-58F14C127FCF}"/>
              </a:ext>
            </a:extLst>
          </p:cNvPr>
          <p:cNvSpPr txBox="1"/>
          <p:nvPr/>
        </p:nvSpPr>
        <p:spPr>
          <a:xfrm>
            <a:off x="-12182007" y="1321759"/>
            <a:ext cx="11332564" cy="3558410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Descripción de la problemática</a:t>
            </a:r>
            <a:endParaRPr lang="es-MX" sz="20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 biblioteca del Centro Escolar Simón Bolívar utiliza actualmente un sistema mixto (registros manuales en papel y archivos digitales básicos). Esto provoca pérdida de información, errores frecuentes en los registros, dificultad para localizar libros, retrasos en la atención a los estudiantes y falta de control en tiempo real de la disponibilidad de ejemplares.</a:t>
            </a:r>
            <a:endParaRPr lang="es-MX" sz="20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s-MX" sz="20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 propone el desarrollo de un sistema de escritorio automatizado para optimizar la gestión de préstamos, devoluciones, renovaciones y el inventario de libros.</a:t>
            </a:r>
            <a:endParaRPr lang="es-MX" sz="20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5405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FC7A2A2-87D1-6DCD-1539-2D76D883B87B}"/>
              </a:ext>
            </a:extLst>
          </p:cNvPr>
          <p:cNvSpPr txBox="1"/>
          <p:nvPr/>
        </p:nvSpPr>
        <p:spPr>
          <a:xfrm>
            <a:off x="362550" y="1216179"/>
            <a:ext cx="11466899" cy="4087466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4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 biblioteca del Centro Escolar Simón Bolívar utiliza actualmente un sistema mixto (registros manuales en papel y archivos digitales básicos). Esto provoca pérdida de información, errores frecuentes en los registros, dificultad para localizar libros, retrasos en la atención a los estudiantes y falta de control en tiempo real de la disponibilidad de ejemplares.</a:t>
            </a:r>
            <a:endParaRPr lang="es-MX" sz="24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4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s-MX" sz="24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4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 propone el desarrollo de un sistema de escritorio automatizado para optimizar la gestión de préstamos, devoluciones, renovaciones y el inventario de libros.</a:t>
            </a:r>
            <a:endParaRPr lang="es-MX" sz="24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859497B-510B-4296-EF4D-5472E8BD4D80}"/>
              </a:ext>
            </a:extLst>
          </p:cNvPr>
          <p:cNvSpPr txBox="1"/>
          <p:nvPr/>
        </p:nvSpPr>
        <p:spPr>
          <a:xfrm>
            <a:off x="-8896350" y="150077"/>
            <a:ext cx="7981950" cy="6291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 ID      | Historia de Usuario                          | Importancia | Sprint 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|---------|----------------------------------------------|-------------|--------|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 HU001   | Gestionar usuario bibliotecario              | 64          | 1      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 HU002   | Gestionar usuario                            | 64          | 1      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 HU003   | Gestionar libros                             | 64          | 1      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 HU006   | Gestionar préstamo                           | 64          | 1      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 HU0019  | Panel de resumen rápido                      | 64          | 1      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 HU0013  | Gestionar libros por categoría               | 48          | 2      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 HU0014  | Reporte de inventario                        | 48          | 2      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 HU0015  | Auditoría de actividades                     | 48          | 2      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 HU0020  | Dar de baja a libros sin existencia          | 48          | 2      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 HU004   | Generar reportes                             | 32          | 3      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 HU005   | Registrar estudiantes                        | 32          | 3      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 HU0016  | Renovación de préstamos                      | 32          | 3      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 HU0017  | Cancelar préstamo o reserva                  | 32          | 3      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C601978-5356-EA51-9DE5-81ED75ED0511}"/>
              </a:ext>
            </a:extLst>
          </p:cNvPr>
          <p:cNvSpPr txBox="1"/>
          <p:nvPr/>
        </p:nvSpPr>
        <p:spPr>
          <a:xfrm>
            <a:off x="-13011150" y="2647950"/>
            <a:ext cx="4000500" cy="875624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Planificación Scrum – Product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Backlog Priorizado</a:t>
            </a:r>
            <a:endParaRPr lang="es-MX" sz="20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C7732EB-1B4E-5940-E58F-DD83AC2D699C}"/>
              </a:ext>
            </a:extLst>
          </p:cNvPr>
          <p:cNvSpPr txBox="1"/>
          <p:nvPr/>
        </p:nvSpPr>
        <p:spPr>
          <a:xfrm>
            <a:off x="362550" y="473927"/>
            <a:ext cx="4171350" cy="41908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Descripción de la problemática</a:t>
            </a:r>
            <a:endParaRPr lang="es-MX" sz="20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723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2472FFC1-36FB-69B2-4BBC-28D48927FA3D}"/>
              </a:ext>
            </a:extLst>
          </p:cNvPr>
          <p:cNvSpPr txBox="1"/>
          <p:nvPr/>
        </p:nvSpPr>
        <p:spPr>
          <a:xfrm>
            <a:off x="4210050" y="150077"/>
            <a:ext cx="7981950" cy="6291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 ID      | Historia de Usuario                          | Importancia | Sprint 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|---------|----------------------------------------------|-------------|--------|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 HU001   | Gestionar usuario bibliotecario              | 64          | 1      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 HU002   | Gestionar usuario                            | 64          | 1      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 HU003   | Gestionar libros                             | 64          | 1      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 HU006   | Gestionar préstamo                           | 64          | 1      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 HU0019  | Panel de resumen rápido                      | 64          | 1      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 HU0013  | Gestionar libros por categoría               | 48          | 2      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 HU0014  | Reporte de inventario                        | 48          | 2      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 HU0015  | Auditoría de actividades                     | 48          | 2      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 HU0020  | Dar de baja a libros sin existencia          | 48          | 2      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 HU004   | Generar reportes                             | 32          | 3      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 HU005   | Registrar estudiantes                        | 32          | 3      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 HU0016  | Renovación de préstamos                      | 32          | 3      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 HU0017  | Cancelar préstamo o reserva                  | 32          | 3      |</a:t>
            </a:r>
            <a:endParaRPr lang="es-MX" sz="18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EE5267B-4AF2-D182-3968-AE8B49E43B05}"/>
              </a:ext>
            </a:extLst>
          </p:cNvPr>
          <p:cNvSpPr txBox="1"/>
          <p:nvPr/>
        </p:nvSpPr>
        <p:spPr>
          <a:xfrm>
            <a:off x="95250" y="2647950"/>
            <a:ext cx="4000500" cy="875624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Planificación Scrum – Product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Backlog Priorizado</a:t>
            </a:r>
            <a:endParaRPr lang="es-MX" sz="20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BD96556-E68D-0823-761B-E4A9F1D25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184380" y="0"/>
            <a:ext cx="11835384" cy="630936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F6DC7B2-F550-C98F-0DCF-CC2282677FB8}"/>
              </a:ext>
            </a:extLst>
          </p:cNvPr>
          <p:cNvSpPr txBox="1"/>
          <p:nvPr/>
        </p:nvSpPr>
        <p:spPr>
          <a:xfrm>
            <a:off x="-12184380" y="384048"/>
            <a:ext cx="3753612" cy="369332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NI" sz="1800" b="1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Mapeo de procesos del sistema </a:t>
            </a:r>
            <a:endParaRPr lang="es-MX" b="1" dirty="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866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E325A-291C-BF70-6323-D7245A35D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B18DAFC9-0C46-8743-D649-6E68B6E0B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" y="0"/>
            <a:ext cx="11835384" cy="630936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F21FFF0B-A1AF-C728-6904-8BCE9FD8EAEA}"/>
              </a:ext>
            </a:extLst>
          </p:cNvPr>
          <p:cNvSpPr txBox="1"/>
          <p:nvPr/>
        </p:nvSpPr>
        <p:spPr>
          <a:xfrm>
            <a:off x="178308" y="384048"/>
            <a:ext cx="4393692" cy="40011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NI" sz="2000" b="1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Mapeo de procesos del sistema </a:t>
            </a:r>
            <a:endParaRPr lang="es-MX" sz="2000" b="1" dirty="0">
              <a:latin typeface="Amasis MT Pro" panose="020405040500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06108A6-FA7E-7A48-C00E-FB67DEB5D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87003" y="1066800"/>
            <a:ext cx="10753653" cy="527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799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19C2D-6E32-A325-7C0F-5DBD566EB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DB81106F-D83A-00EB-C8CB-9E1536A75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57" y="224852"/>
            <a:ext cx="11535952" cy="6113726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2E8A4E85-7F00-A727-BF71-0557115CB989}"/>
              </a:ext>
            </a:extLst>
          </p:cNvPr>
          <p:cNvSpPr txBox="1"/>
          <p:nvPr/>
        </p:nvSpPr>
        <p:spPr>
          <a:xfrm>
            <a:off x="-12153900" y="291584"/>
            <a:ext cx="2095500" cy="40011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NI" sz="2000" b="1" dirty="0">
                <a:latin typeface="Amasis MT Pro" panose="02040504050005020304" pitchFamily="18" charset="0"/>
                <a:cs typeface="Times New Roman" panose="02020603050405020304" pitchFamily="18" charset="0"/>
              </a:rPr>
              <a:t>Base De Datos</a:t>
            </a:r>
            <a:endParaRPr lang="es-MX" sz="2000" b="1" dirty="0">
              <a:latin typeface="Amasis MT Pro" panose="02040504050005020304" pitchFamily="18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55BF5201-6BD8-1D86-3721-EF5DF1579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786641" y="824458"/>
            <a:ext cx="11182661" cy="5413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211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B5E42-CE24-F551-767E-02220BF63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AB42725-16A8-5338-9CED-68C1C5D26B46}"/>
              </a:ext>
            </a:extLst>
          </p:cNvPr>
          <p:cNvSpPr txBox="1"/>
          <p:nvPr/>
        </p:nvSpPr>
        <p:spPr>
          <a:xfrm>
            <a:off x="457200" y="291584"/>
            <a:ext cx="2095500" cy="40011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NI" sz="2000" b="1" dirty="0">
                <a:latin typeface="Amasis MT Pro" panose="02040504050005020304" pitchFamily="18" charset="0"/>
                <a:cs typeface="Times New Roman" panose="02020603050405020304" pitchFamily="18" charset="0"/>
              </a:rPr>
              <a:t>Base De Datos</a:t>
            </a:r>
            <a:endParaRPr lang="es-MX" sz="2000" b="1" dirty="0">
              <a:latin typeface="Amasis MT Pro" panose="02040504050005020304" pitchFamily="18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CB9D298-A707-6D95-04A8-DE23EED03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459" y="824458"/>
            <a:ext cx="11182661" cy="5413597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96EFA8BE-E4FD-62A1-9652-9449AB1A950D}"/>
              </a:ext>
            </a:extLst>
          </p:cNvPr>
          <p:cNvSpPr txBox="1"/>
          <p:nvPr/>
        </p:nvSpPr>
        <p:spPr>
          <a:xfrm>
            <a:off x="-8346948" y="318254"/>
            <a:ext cx="6099048" cy="40011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NI" sz="2000" b="1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Diseño de arquitectura de la aplicación</a:t>
            </a:r>
            <a:endParaRPr lang="es-MX" sz="2000" b="1" dirty="0">
              <a:latin typeface="Amasis MT Pro" panose="02040504050005020304" pitchFamily="18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374C8109-36F3-36C2-6B9D-963C29A28F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70194" y="1211675"/>
            <a:ext cx="5928233" cy="443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32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6CD5A-A08E-04E6-EEEB-C427B021A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6E88141-0B1B-12A0-8341-649CA775ABD9}"/>
              </a:ext>
            </a:extLst>
          </p:cNvPr>
          <p:cNvSpPr txBox="1"/>
          <p:nvPr/>
        </p:nvSpPr>
        <p:spPr>
          <a:xfrm>
            <a:off x="416052" y="318254"/>
            <a:ext cx="6099048" cy="40011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NI" sz="2000" b="1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Diseño de arquitectura de la aplicación</a:t>
            </a:r>
            <a:endParaRPr lang="es-MX" sz="2000" b="1" dirty="0">
              <a:latin typeface="Amasis MT Pro" panose="020405040500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458BA70-A508-6FD2-43F0-96DAFC6AF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806" y="1211675"/>
            <a:ext cx="5928233" cy="443465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4B8A08A-02BE-A6A2-05F0-765AF4FF1D95}"/>
              </a:ext>
            </a:extLst>
          </p:cNvPr>
          <p:cNvSpPr txBox="1"/>
          <p:nvPr/>
        </p:nvSpPr>
        <p:spPr>
          <a:xfrm>
            <a:off x="-11786028" y="297664"/>
            <a:ext cx="3712264" cy="816314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Diagramas UML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(clases, casos de uso, actividades)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38FACD7-845F-E216-1CD8-4D69F9424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211050" y="1473742"/>
            <a:ext cx="6096000" cy="443238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835F432-0280-276F-EB0A-0F7C213E5F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115051" y="-1"/>
            <a:ext cx="5987323" cy="611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201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E9969-2A7A-15F8-DF57-8C895E4ED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F1534AD-69AA-ACE3-56D0-23C594ABA9AC}"/>
              </a:ext>
            </a:extLst>
          </p:cNvPr>
          <p:cNvSpPr txBox="1"/>
          <p:nvPr/>
        </p:nvSpPr>
        <p:spPr>
          <a:xfrm>
            <a:off x="425022" y="297664"/>
            <a:ext cx="4146978" cy="816314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Diagramas UML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(clases, casos de uso, actividades)</a:t>
            </a:r>
            <a:endParaRPr lang="es-MX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691918C-4E21-69F2-757E-2BB48C38B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3742"/>
            <a:ext cx="6096000" cy="443238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BF430E9-3123-1C42-1280-82E261B90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-1"/>
            <a:ext cx="5987323" cy="611598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FF171D8-5E4F-E489-596B-F5E886954548}"/>
              </a:ext>
            </a:extLst>
          </p:cNvPr>
          <p:cNvSpPr txBox="1"/>
          <p:nvPr/>
        </p:nvSpPr>
        <p:spPr>
          <a:xfrm>
            <a:off x="-11998689" y="424505"/>
            <a:ext cx="6093500" cy="41908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Código de clases de entidad (Capa de datos)</a:t>
            </a:r>
            <a:endParaRPr lang="es-MX" sz="20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E933B5F-AF8F-AF3E-D941-D7AF0AA26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152340" y="1034321"/>
            <a:ext cx="11887201" cy="518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722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E1A99-075B-5A54-B0C7-E9C35AD86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E81ADCF-DFF7-EA58-4DAB-0399C364F73A}"/>
              </a:ext>
            </a:extLst>
          </p:cNvPr>
          <p:cNvSpPr txBox="1"/>
          <p:nvPr/>
        </p:nvSpPr>
        <p:spPr>
          <a:xfrm>
            <a:off x="288561" y="424505"/>
            <a:ext cx="6093500" cy="41908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NI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Código de clases de entidad (Capa de datos)</a:t>
            </a:r>
            <a:endParaRPr lang="es-MX" sz="2000" b="1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4E46070-6928-049D-C3BC-29313DBB1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10" y="1034321"/>
            <a:ext cx="11887201" cy="518659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E77D529-CA2E-657C-9F8C-4B8CBF5F5F20}"/>
              </a:ext>
            </a:extLst>
          </p:cNvPr>
          <p:cNvSpPr txBox="1"/>
          <p:nvPr/>
        </p:nvSpPr>
        <p:spPr>
          <a:xfrm>
            <a:off x="-11753850" y="272534"/>
            <a:ext cx="6096000" cy="40011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NI" sz="2000" b="1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Implementación de operaciones CRUD</a:t>
            </a:r>
            <a:endParaRPr lang="es-MX" sz="2000" b="1" dirty="0">
              <a:latin typeface="Amasis MT Pro" panose="020405040500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6F79C6B-2386-B9B6-1505-4DE7F64AC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753850" y="971550"/>
            <a:ext cx="11620500" cy="527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289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97EA2-52F9-21D9-072E-EE3EB5AC1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7630D35-1895-EA1F-B309-F6E09197F88E}"/>
              </a:ext>
            </a:extLst>
          </p:cNvPr>
          <p:cNvSpPr txBox="1"/>
          <p:nvPr/>
        </p:nvSpPr>
        <p:spPr>
          <a:xfrm>
            <a:off x="285750" y="272534"/>
            <a:ext cx="6096000" cy="40011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NI" sz="2000" b="1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Implementación de operaciones CRUD</a:t>
            </a:r>
            <a:endParaRPr lang="es-MX" sz="2000" b="1" dirty="0">
              <a:latin typeface="Amasis MT Pro" panose="02040504050005020304" pitchFamily="18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9825418-4485-7661-E468-AFC297DD4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971550"/>
            <a:ext cx="11620500" cy="527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106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7BF9239-FC43-62EB-3548-1F0774B876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91" y="0"/>
            <a:ext cx="12217004" cy="6872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377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1004</Words>
  <Application>Microsoft Office PowerPoint</Application>
  <PresentationFormat>Panorámica</PresentationFormat>
  <Paragraphs>110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1" baseType="lpstr">
      <vt:lpstr>Amasis MT Pro</vt:lpstr>
      <vt:lpstr>Aptos</vt:lpstr>
      <vt:lpstr>Arial</vt:lpstr>
      <vt:lpstr>Calibri</vt:lpstr>
      <vt:lpstr>Calibri cuerpo</vt:lpstr>
      <vt:lpstr>Calibri Light</vt:lpstr>
      <vt:lpstr>Tw Cen MT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Marvin Antonio Gutiérrez Rodríguez</dc:creator>
  <cp:lastModifiedBy>Ryzen 5</cp:lastModifiedBy>
  <cp:revision>8</cp:revision>
  <cp:lastPrinted>2024-02-08T19:25:25Z</cp:lastPrinted>
  <dcterms:created xsi:type="dcterms:W3CDTF">2021-03-17T19:41:32Z</dcterms:created>
  <dcterms:modified xsi:type="dcterms:W3CDTF">2026-05-16T14:41:43Z</dcterms:modified>
</cp:coreProperties>
</file>